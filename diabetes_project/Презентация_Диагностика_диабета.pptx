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108" y="8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Excel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Excel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324F"/>
                </a:solidFill>
                <a:latin typeface="Arial"/>
              </a:defRPr>
            </a:pPr>
            <a:r>
              <a:rPr lang="ru-RU" sz="1300" b="0" i="0" u="none" strike="noStrike">
                <a:solidFill>
                  <a:srgbClr val="16324F"/>
                </a:solidFill>
                <a:latin typeface="Arial"/>
              </a:rPr>
              <a:t>Баланс классов (65% / 35%)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Outcome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B6E6E"/>
              </a:solidFill>
              <a:effectLst/>
            </c:spPr>
          </c:dPt>
          <c:dPt>
            <c:idx val="1"/>
            <c:bubble3D val="0"/>
            <c:spPr>
              <a:solidFill>
                <a:srgbClr val="00A896"/>
              </a:solidFill>
              <a:effectLst/>
            </c:spPr>
          </c:dPt>
          <c:cat>
            <c:strRef>
              <c:f>Sheet1!$A$2:$A$3</c:f>
              <c:strCache>
                <c:ptCount val="2"/>
                <c:pt idx="0">
                  <c:v>Нет диабета (500)</c:v>
                </c:pt>
                <c:pt idx="1">
                  <c:v>Диабет (268)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500</c:v>
                </c:pt>
                <c:pt idx="1">
                  <c:v>268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/>
        <a:lstStyle/>
        <a:p>
          <a:pPr>
            <a:defRPr sz="1200">
              <a:solidFill>
                <a:srgbClr val="1E293B"/>
              </a:solidFill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324F"/>
                </a:solidFill>
                <a:latin typeface="Arial"/>
              </a:defRPr>
            </a:pPr>
            <a:r>
              <a:rPr lang="ru-RU" sz="1300" b="0" i="0" u="none" strike="noStrike">
                <a:solidFill>
                  <a:srgbClr val="16324F"/>
                </a:solidFill>
                <a:latin typeface="Arial"/>
              </a:rPr>
              <a:t>Качество моделей (5-fold CV, Recall)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Recall (кросс-валидация)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Pt>
            <c:idx val="0"/>
            <c:invertIfNegative val="0"/>
            <c:bubble3D val="0"/>
          </c:dPt>
          <c:dPt>
            <c:idx val="1"/>
            <c:invertIfNegative val="0"/>
            <c:bubble3D val="0"/>
            <c:spPr>
              <a:solidFill>
                <a:srgbClr val="0B6E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DBDBD"/>
              </a:solidFill>
              <a:effectLst/>
            </c:spPr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Logistic
Regression</c:v>
                </c:pt>
                <c:pt idx="1">
                  <c:v>Random
Forest</c:v>
                </c:pt>
                <c:pt idx="2">
                  <c:v>Gradient
Boosting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0.70599999999999996</c:v>
                </c:pt>
                <c:pt idx="1">
                  <c:v>0.73299999999999998</c:v>
                </c:pt>
                <c:pt idx="2">
                  <c:v>0.60799999999999998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651490080"/>
        <c:axId val="-651492256"/>
      </c:barChart>
      <c:catAx>
        <c:axId val="-6514900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7785"/>
                </a:solidFill>
                <a:latin typeface="Arial"/>
              </a:defRPr>
            </a:pPr>
            <a:endParaRPr lang="ru-RU"/>
          </a:p>
        </c:txPr>
        <c:crossAx val="-651492256"/>
        <c:crosses val="autoZero"/>
        <c:auto val="1"/>
        <c:lblAlgn val="ctr"/>
        <c:lblOffset val="100"/>
        <c:noMultiLvlLbl val="1"/>
      </c:catAx>
      <c:valAx>
        <c:axId val="-651492256"/>
        <c:scaling>
          <c:orientation val="minMax"/>
          <c:max val="0.8"/>
          <c:min val="0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7785"/>
                </a:solidFill>
                <a:latin typeface="Arial"/>
              </a:defRPr>
            </a:pPr>
            <a:endParaRPr lang="ru-RU"/>
          </a:p>
        </c:txPr>
        <c:crossAx val="-65149008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33977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669280" cy="5669280"/>
          </a:xfrm>
          <a:prstGeom prst="ellipse">
            <a:avLst/>
          </a:prstGeom>
          <a:solidFill>
            <a:srgbClr val="0B6E6E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4754880" cy="4754880"/>
          </a:xfrm>
          <a:prstGeom prst="ellipse">
            <a:avLst/>
          </a:prstGeom>
          <a:solidFill>
            <a:srgbClr val="00A896">
              <a:alpha val="4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ИНТЕЛЛЕКТУАЛЬНЫЕ СИСТЕМЫ · ПРОЕКТ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Диагностика диабета</a:t>
            </a:r>
            <a:endParaRPr lang="en-US" sz="5200" dirty="0"/>
          </a:p>
          <a:p>
            <a:pPr marL="0" indent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 пациентов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31520" y="365760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7D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наличия сахарного диабета по набору клинических показателей с помощью машинного обучения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49808" y="4754880"/>
            <a:ext cx="384048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983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Команда:  </a:t>
            </a:r>
            <a:r>
              <a:rPr lang="en-US" sz="1600" dirty="0">
                <a:solidFill>
                  <a:srgbClr val="C7D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Торгашинов Андрей, Александров Павел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Группа:  </a:t>
            </a:r>
            <a:r>
              <a:rPr lang="en-US" sz="1600" dirty="0">
                <a:solidFill>
                  <a:srgbClr val="C7D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 15-16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Датасет:  </a:t>
            </a:r>
            <a:r>
              <a:rPr lang="en-US" sz="1600" dirty="0">
                <a:solidFill>
                  <a:srgbClr val="C7D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Pima Indians Diabetes Database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 И ЦЕЛЬ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Зачем нужна ранняя диагностика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3F8F8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8745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537 млн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взрослых в мире живут с диабетом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69164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3F8F8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18745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572000" y="26060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случаев диабета 2 типа остаются недиагностированными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69164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3F8F8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66760" y="18745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из 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366760" y="26060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пациентов узнаёт о болезни уже с осложнениями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703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 проекта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114800"/>
            <a:ext cx="11064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Построить и протестировать модель, которая по 8 клиническим показателям оценивает риск диабета и работает через веб-интерфейс.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Целевой пользователь — медицинский работник, проводящий скрининг: инструмент помогает решить, кого направить на дообследование.</a:t>
            </a:r>
            <a:endParaRPr lang="en-US" sz="15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Ранняя диагностика снижает риск тяжёлых осложнений (сердечно-сосудистые заболевания, поражение почек, зрения).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диабета у пациентов · ИТ 15-16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Pima Indians Diabetes Database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737360"/>
          <a:ext cx="42062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937760" y="17830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768 пациенток · 8 клинических признаков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937760" y="224028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Pregnancies — число беременностей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Glucose — глюкоза плазмы;  BloodPressure — давление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SkinThickness — кожная складка;  Insulin — инсулин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 — индекс массы тела;  Age — возраст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DiabetesPedigreeFunction — генетический риск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4937760" y="4160520"/>
            <a:ext cx="6766560" cy="1737360"/>
          </a:xfrm>
          <a:prstGeom prst="roundRect">
            <a:avLst>
              <a:gd name="adj" fmla="val 3158"/>
            </a:avLst>
          </a:prstGeom>
          <a:solidFill>
            <a:srgbClr val="FFF4E6"/>
          </a:solidFill>
          <a:ln w="12700">
            <a:solidFill>
              <a:srgbClr val="F0B2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120640" y="42976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Проблемы датасета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120640" y="4617720"/>
            <a:ext cx="6400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3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7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Дисбаланс классов 65% / 35% — модель склонна занижать число больных.</a:t>
            </a:r>
            <a:endParaRPr lang="en-US" sz="1300" dirty="0"/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300" dirty="0">
                <a:solidFill>
                  <a:srgbClr val="7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Биологически невозможные нули в Glucose, BloodPressure, SkinThickness, Insulin, BMI = скрытые пропуски → заменены медианой.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диабета у пациентов · ИТ 15-16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 И МОДЕЛЬ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Сравнение моделей и выбор метрики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783080"/>
          <a:ext cx="566928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783080"/>
            <a:ext cx="5303520" cy="1828800"/>
          </a:xfrm>
          <a:prstGeom prst="roundRect">
            <a:avLst>
              <a:gd name="adj" fmla="val 3000"/>
            </a:avLst>
          </a:prstGeom>
          <a:solidFill>
            <a:srgbClr val="F3F8F8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629400" y="19202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Выбор модели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629400" y="2240280"/>
            <a:ext cx="49377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3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алгоритма с подбором гиперпараметров (GridSearchCV); отбор ведётся по Recall на стратифицированной кросс-валидации.</a:t>
            </a:r>
            <a:endParaRPr lang="en-US" sz="1300" dirty="0"/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Победитель — Random Forest (CV-Recall 0.73): лучшее и стабильное качество, устойчив к выбросам.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0" y="3749040"/>
            <a:ext cx="5303520" cy="1965960"/>
          </a:xfrm>
          <a:prstGeom prst="roundRect">
            <a:avLst>
              <a:gd name="adj" fmla="val 2791"/>
            </a:avLst>
          </a:prstGeom>
          <a:solidFill>
            <a:srgbClr val="16324F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629400" y="38862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Recall, а не Accuracy?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629400" y="42062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Пропустить больного (ложноотрицательный) опаснее, чем направить здорового на лишнее обследование. При дисбалансе классов высокая Accuracy достигается за счёт пропуска больных, поэтому ключевая метрика — Recall (чувствительность).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диабета у пациентов · ИТ 15-16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Качество на отложенной тестовой выборке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B6E6E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8745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0.72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8580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(диабет)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37560" y="173736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3F8F8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0" y="18745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347472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0" y="173736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3F8F8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63640" y="18745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0.66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626364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(диабет)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915400" y="173736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3F8F8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52560" y="18745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90525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Матрица ошибок (тест, 154 пациента)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4114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 →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94560" y="37947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Здоров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03320" y="37947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Диабет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4297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Прогноз: здоров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11480" y="53949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Прогноз: диабет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94560" y="4069080"/>
            <a:ext cx="1371600" cy="1005840"/>
          </a:xfrm>
          <a:prstGeom prst="roundRect">
            <a:avLst>
              <a:gd name="adj" fmla="val 4545"/>
            </a:avLst>
          </a:prstGeom>
          <a:solidFill>
            <a:srgbClr val="00A896"/>
          </a:solidFill>
          <a:ln/>
        </p:spPr>
      </p:sp>
      <p:sp>
        <p:nvSpPr>
          <p:cNvPr id="23" name="Text 21"/>
          <p:cNvSpPr/>
          <p:nvPr/>
        </p:nvSpPr>
        <p:spPr>
          <a:xfrm>
            <a:off x="2194560" y="417880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2240280" y="4709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верно здоровы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03320" y="4069080"/>
            <a:ext cx="1371600" cy="1005840"/>
          </a:xfrm>
          <a:prstGeom prst="roundRect">
            <a:avLst>
              <a:gd name="adj" fmla="val 4545"/>
            </a:avLst>
          </a:prstGeom>
          <a:solidFill>
            <a:srgbClr val="E6B873"/>
          </a:solidFill>
          <a:ln/>
        </p:spPr>
      </p:sp>
      <p:sp>
        <p:nvSpPr>
          <p:cNvPr id="26" name="Text 24"/>
          <p:cNvSpPr/>
          <p:nvPr/>
        </p:nvSpPr>
        <p:spPr>
          <a:xfrm>
            <a:off x="3703320" y="417880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3749040" y="4709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ложная тревога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194560" y="5166360"/>
            <a:ext cx="1371600" cy="1005840"/>
          </a:xfrm>
          <a:prstGeom prst="roundRect">
            <a:avLst>
              <a:gd name="adj" fmla="val 4545"/>
            </a:avLst>
          </a:prstGeom>
          <a:solidFill>
            <a:srgbClr val="D9534F"/>
          </a:solidFill>
          <a:ln/>
        </p:spPr>
      </p:sp>
      <p:sp>
        <p:nvSpPr>
          <p:cNvPr id="29" name="Text 27"/>
          <p:cNvSpPr/>
          <p:nvPr/>
        </p:nvSpPr>
        <p:spPr>
          <a:xfrm>
            <a:off x="2194560" y="52760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2240280" y="5806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пропущены больные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703320" y="5166360"/>
            <a:ext cx="1371600" cy="1005840"/>
          </a:xfrm>
          <a:prstGeom prst="roundRect">
            <a:avLst>
              <a:gd name="adj" fmla="val 4545"/>
            </a:avLst>
          </a:prstGeom>
          <a:solidFill>
            <a:srgbClr val="0B6E6E"/>
          </a:solidFill>
          <a:ln/>
        </p:spPr>
      </p:sp>
      <p:sp>
        <p:nvSpPr>
          <p:cNvPr id="32" name="Text 30"/>
          <p:cNvSpPr/>
          <p:nvPr/>
        </p:nvSpPr>
        <p:spPr>
          <a:xfrm>
            <a:off x="3703320" y="52760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3749040" y="5806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верно больны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943600" y="36118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получилось и трудности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5943600" y="4023360"/>
            <a:ext cx="5806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3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Хорошо: модель ловит ~72% реальных больных, ROC-AUC 0.82 — уверенное разделение классов.</a:t>
            </a:r>
            <a:endParaRPr lang="en-US" sz="1300" dirty="0"/>
          </a:p>
          <a:p>
            <a:pPr marL="342900" indent="-342900">
              <a:lnSpc>
                <a:spcPct val="103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Главная трудность: дисбаланс и пропуски в данных; 15 больных всё ещё пропущены (ложноотрицательные).</a:t>
            </a:r>
            <a:endParaRPr lang="en-US" sz="1300" dirty="0"/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Самые важные признаки: глюкоза (0.34), ИМТ (0.18), возраст (0.13).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диабета у пациентов · ИТ 15-16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РАБОЧИЙ ПРОТОТИП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Веб-интерфейс на Gradio и архитектура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103120" cy="1051560"/>
          </a:xfrm>
          <a:prstGeom prst="roundRect">
            <a:avLst>
              <a:gd name="adj" fmla="val 6087"/>
            </a:avLst>
          </a:prstGeom>
          <a:solidFill>
            <a:srgbClr val="F3F8F8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965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diabetes.csv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238658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633472" y="20116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A896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880360" y="1783080"/>
            <a:ext cx="2103120" cy="1051560"/>
          </a:xfrm>
          <a:prstGeom prst="roundRect">
            <a:avLst>
              <a:gd name="adj" fmla="val 6087"/>
            </a:avLst>
          </a:prstGeom>
          <a:solidFill>
            <a:srgbClr val="F3F8F8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880360" y="1965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train.py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880360" y="238658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и отбор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65192" y="20116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A896"/>
                </a:solidFill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212080" y="1783080"/>
            <a:ext cx="2103120" cy="1051560"/>
          </a:xfrm>
          <a:prstGeom prst="roundRect">
            <a:avLst>
              <a:gd name="adj" fmla="val 6087"/>
            </a:avLst>
          </a:prstGeom>
          <a:solidFill>
            <a:srgbClr val="F3F8F8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12080" y="1965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model.pkl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212080" y="238658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сохранённая модель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296912" y="20116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A896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543800" y="1783080"/>
            <a:ext cx="2103120" cy="1051560"/>
          </a:xfrm>
          <a:prstGeom prst="roundRect">
            <a:avLst>
              <a:gd name="adj" fmla="val 6087"/>
            </a:avLst>
          </a:prstGeom>
          <a:solidFill>
            <a:srgbClr val="F3F8F8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43800" y="1965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543800" y="238658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Gradio-интерфейс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28632" y="20116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A896"/>
                </a:solidFill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9875520" y="1783080"/>
            <a:ext cx="2103120" cy="1051560"/>
          </a:xfrm>
          <a:prstGeom prst="roundRect">
            <a:avLst>
              <a:gd name="adj" fmla="val 6087"/>
            </a:avLst>
          </a:prstGeom>
          <a:solidFill>
            <a:srgbClr val="0B6E6E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875520" y="1965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875520" y="238658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диагноз + %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200400"/>
            <a:ext cx="5486400" cy="2834640"/>
          </a:xfrm>
          <a:prstGeom prst="roundRect">
            <a:avLst>
              <a:gd name="adj" fmla="val 1935"/>
            </a:avLst>
          </a:prstGeom>
          <a:solidFill>
            <a:srgbClr val="F3F8F8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77240" y="33649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Система диагностики диабета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77240" y="374904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Поля ввода: 8 показателей пациента с единицами и подсказками с нормами (глюкоза 70–99, ИМТ 18.5–24.9…).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«Провести диагностику» → метка риска (ПОВЫШЕН / НИЗКИЙ) и вероятность в %.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Вкладки: диагностика, вклад признаков (BarPlot), матрица ошибок и примеры ошибок модели.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63640" y="3200400"/>
            <a:ext cx="5440680" cy="2834640"/>
          </a:xfrm>
          <a:prstGeom prst="roundRect">
            <a:avLst>
              <a:gd name="adj" fmla="val 1935"/>
            </a:avLst>
          </a:prstGeom>
          <a:solidFill>
            <a:srgbClr val="16324F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92240" y="33649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Демонстрация: два сценария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92240" y="3767328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Здоровая пациентка: глюкоза 90, ИМТ 22 → риск НИЗКИЙ.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Пограничный случай: глюкоза 180, ИМТ 35 → риск ПОВЫШЕН.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✓"/>
            </a:pPr>
            <a:r>
              <a:rPr lang="en-US" sz="130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Запуск: pip install -r requirements.txt → python train.py → python app.py.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диабета у пациентов · ИТ 15-16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03120" y="4023360"/>
            <a:ext cx="5486400" cy="5486400"/>
          </a:xfrm>
          <a:prstGeom prst="ellipse">
            <a:avLst/>
          </a:prstGeom>
          <a:solidFill>
            <a:srgbClr val="0B6E6E">
              <a:alpha val="5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40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 И РАЗВИТИЕ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9601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достигнуто и куда двигаться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Достигнуто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2423160"/>
            <a:ext cx="53949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ML-пайплайн: очистка данных → сравнение моделей → веб-интерфейс → тесты.</a:t>
            </a:r>
            <a:endParaRPr lang="en-US" sz="1450" dirty="0"/>
          </a:p>
          <a:p>
            <a:pPr marL="342900" indent="-3429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с Recall 0.72 и ROC-AUC 0.82 на отложенной выборке.</a:t>
            </a:r>
            <a:endParaRPr lang="en-US" sz="1450" dirty="0"/>
          </a:p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Рабочий прототип на Gradio и автоматические тесты (pytest) проходят.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400800" y="20116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Дальнейшее развитие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0" y="2423160"/>
            <a:ext cx="53492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Подбор порога классификации под максимум Recall и калибровка вероятностей.</a:t>
            </a:r>
            <a:endParaRPr lang="en-US" sz="1450" dirty="0"/>
          </a:p>
          <a:p>
            <a:pPr marL="342900" indent="-3429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Борьба с дисбалансом: SMOTE / взвешивание классов; больше и разнообразнее данные.</a:t>
            </a:r>
            <a:endParaRPr lang="en-US" sz="1450" dirty="0"/>
          </a:p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Объяснимость (SHAP) и валидация на реальной клинической популяции перед применением.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внимание!  ·  Торгашинов Андрей, Александров Павел · ИТ 15-16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686</Words>
  <Application>Microsoft Office PowerPoint</Application>
  <PresentationFormat>Широкоэкранный</PresentationFormat>
  <Paragraphs>118</Paragraphs>
  <Slides>7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Диагностика диабета у пациентов</dc:title>
  <dc:subject>PptxGenJS Presentation</dc:subject>
  <dc:creator>Торгашинов А., Александров П.</dc:creator>
  <cp:lastModifiedBy>Учетная запись Майкрософт</cp:lastModifiedBy>
  <cp:revision>1</cp:revision>
  <dcterms:created xsi:type="dcterms:W3CDTF">2026-06-16T00:35:22Z</dcterms:created>
  <dcterms:modified xsi:type="dcterms:W3CDTF">2026-06-16T01:06:09Z</dcterms:modified>
</cp:coreProperties>
</file>