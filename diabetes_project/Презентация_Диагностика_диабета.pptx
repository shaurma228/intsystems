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24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324F"/>
                </a:solidFill>
                <a:latin typeface="Arial"/>
              </a:rPr>
              <a:t>Баланс классов (65% / 35%)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6E6E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Нет диабета (500)</c:v>
                </c:pt>
                <c:pt idx="1">
                  <c:v>Диабет (268)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500</c:v>
                </c:pt>
                <c:pt idx="1">
                  <c:v>268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24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324F"/>
                </a:solidFill>
                <a:latin typeface="Arial"/>
              </a:rPr>
              <a:t>Качество моделей (5-fold CV, F1)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(кросс-валидация)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6E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DB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Gradient
Boosting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0.673</c:v>
                </c:pt>
                <c:pt idx="1">
                  <c:v>0.686</c:v>
                </c:pt>
                <c:pt idx="2">
                  <c:v>0.636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0B6E6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754880" cy="475488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ИНТЕЛЛЕКТУАЛЬНЫЕ СИСТЕМЫ · ПРОЕКТ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Диагностика диабета</a:t>
            </a:r>
            <a:endParaRPr lang="en-US" sz="5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пациентов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наличия сахарного диабета по набору клинических показателей с помощью машинного обучения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4754880"/>
            <a:ext cx="38404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 </a:t>
            </a:r>
            <a:pPr indent="0" marL="0">
              <a:buNone/>
            </a:pPr>
            <a:r>
              <a:rPr lang="en-US" sz="1600" dirty="0">
                <a:solidFill>
                  <a:srgbClr val="C7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Торгашинов Андрей, Александров Павел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Группа:  </a:t>
            </a:r>
            <a:pPr indent="0" marL="0">
              <a:buNone/>
            </a:pPr>
            <a:r>
              <a:rPr lang="en-US" sz="1600" dirty="0">
                <a:solidFill>
                  <a:srgbClr val="C7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 15-16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Датасет:  </a:t>
            </a:r>
            <a:pPr indent="0" marL="0">
              <a:buNone/>
            </a:pPr>
            <a:r>
              <a:rPr lang="en-US" sz="1600" dirty="0">
                <a:solidFill>
                  <a:srgbClr val="C7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Database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ЦЕЛЬ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нужна ранняя диагностика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3F8F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537 млн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взрослых в мире живут с диабетом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3F8F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874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0" y="2606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случаев диабета 2 типа остаются недиагностированными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3F8F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1874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из 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66760" y="2606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пациентов узнаёт о болезни уже с осложнениями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проекта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и протестировать модель, которая по 8 клиническим показателям оценивает риск диабета и работает через веб-интерфейс.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пользователь — медицинский работник, проводящий скрининг: инструмент помогает решить, кого направить на дообследование.</a:t>
            </a:r>
            <a:endParaRPr lang="en-US" sz="15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Ранняя диагностика снижает риск тяжёлых осложнений (сердечно-сосудистые заболевания, поражение почек, зрения).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диабета у пациентов · ИТ 15-16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Pima Indians Diabetes Database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4206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937760" y="17830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 пациенток · 8 клинических признаков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937760" y="224028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 — число беременностей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— глюкоза плазмы;  BloodPressure — давление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SkinThickness — кожная складка;  Insulin — инсулин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— индекс массы тела;  Age — возраст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DiabetesPedigreeFunction — генетический риск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937760" y="4160520"/>
            <a:ext cx="6766560" cy="1737360"/>
          </a:xfrm>
          <a:prstGeom prst="roundRect">
            <a:avLst>
              <a:gd name="adj" fmla="val 3158"/>
            </a:avLst>
          </a:prstGeom>
          <a:solidFill>
            <a:srgbClr val="FFF4E6"/>
          </a:solidFill>
          <a:ln w="12700">
            <a:solidFill>
              <a:srgbClr val="F0B2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0" y="4297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Проблемы датасета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20640" y="46177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3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7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Дисбаланс классов 65% / 35% — модель склонна занижать число больных.</a:t>
            </a:r>
            <a:endParaRPr lang="en-US" sz="130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7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Биологически невозможные нули в Glucose, BloodPressure, SkinThickness, Insulin, BMI = скрытые пропуски → заменены медианой.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диабета у пациентов · ИТ 15-16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И МОДЕЛЬ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моделей и выбор метрики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8308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783080"/>
            <a:ext cx="5303520" cy="1828800"/>
          </a:xfrm>
          <a:prstGeom prst="roundRect">
            <a:avLst>
              <a:gd name="adj" fmla="val 3000"/>
            </a:avLst>
          </a:prstGeom>
          <a:solidFill>
            <a:srgbClr val="F3F8F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2940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Выбор модели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29400" y="224028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3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Сравнили три алгоритма с подбором гиперпараметров (GridSearchCV) и стратифицированной кросс-валидацией.</a:t>
            </a:r>
            <a:endParaRPr lang="en-US" sz="130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Победитель — Random Forest: лучшее и стабильное качество, устойчив к выбросам, не требует масштабирования.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3749040"/>
            <a:ext cx="5303520" cy="1965960"/>
          </a:xfrm>
          <a:prstGeom prst="roundRect">
            <a:avLst>
              <a:gd name="adj" fmla="val 2791"/>
            </a:avLst>
          </a:prstGeom>
          <a:solidFill>
            <a:srgbClr val="16324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29400" y="3886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Recall, а не Accuracy?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29400" y="42062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Пропустить больного (ложноотрицательный) опаснее, чем направить здорового на лишнее обследование. При дисбалансе классов высокая Accuracy достигается за счёт пропуска больных, поэтому ключевая метрика — Recall (чувствительность).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диабета у пациентов · ИТ 15-16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Качество на отложенной тестовой выборке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B6E6E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(диабет)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3F8F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7472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3F8F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6364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(диабет)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3F8F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5256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Матрица ошибок (тест, 154 пациента)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 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3794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03320" y="3794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Диабет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297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Прогноз: здоров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5394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Прогноз: диабет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194560" y="4069080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2194560" y="41788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240280" y="4709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 здоровы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03320" y="4069080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E6B873"/>
          </a:solidFill>
          <a:ln/>
        </p:spPr>
      </p:sp>
      <p:sp>
        <p:nvSpPr>
          <p:cNvPr id="26" name="Text 24"/>
          <p:cNvSpPr/>
          <p:nvPr/>
        </p:nvSpPr>
        <p:spPr>
          <a:xfrm>
            <a:off x="3703320" y="41788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749040" y="4709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ложная тревога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94560" y="5166360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D9534F"/>
          </a:solidFill>
          <a:ln/>
        </p:spPr>
      </p:sp>
      <p:sp>
        <p:nvSpPr>
          <p:cNvPr id="29" name="Text 27"/>
          <p:cNvSpPr/>
          <p:nvPr/>
        </p:nvSpPr>
        <p:spPr>
          <a:xfrm>
            <a:off x="2194560" y="5276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2240280" y="5806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пропущены больные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03320" y="5166360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0B6E6E"/>
          </a:solidFill>
          <a:ln/>
        </p:spPr>
      </p:sp>
      <p:sp>
        <p:nvSpPr>
          <p:cNvPr id="32" name="Text 30"/>
          <p:cNvSpPr/>
          <p:nvPr/>
        </p:nvSpPr>
        <p:spPr>
          <a:xfrm>
            <a:off x="3703320" y="5276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3749040" y="5806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 больны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3611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получилось и трудности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943600" y="4023360"/>
            <a:ext cx="5806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Хорошо: модель ловит ~72% реальных больных, ROC-AUC 0.82 — уверенное разделение классов.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трудность: дисбаланс и пропуски в данных; 15 больных всё ещё пропущены (ложноотрицательные).</a:t>
            </a:r>
            <a:endParaRPr lang="en-US" sz="130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Самые важные признаки: глюкоза (0.34), ИМТ (0.18), возраст (0.13).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диабета у пациентов · ИТ 15-16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ПРОТОТИП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Веб-интерфейс на Gradio и архитектура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1051560"/>
          </a:xfrm>
          <a:prstGeom prst="roundRect">
            <a:avLst>
              <a:gd name="adj" fmla="val 6087"/>
            </a:avLst>
          </a:prstGeom>
          <a:solidFill>
            <a:srgbClr val="F3F8F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diabetes.csv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386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33472" y="20116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80360" y="1783080"/>
            <a:ext cx="2103120" cy="1051560"/>
          </a:xfrm>
          <a:prstGeom prst="roundRect">
            <a:avLst>
              <a:gd name="adj" fmla="val 6087"/>
            </a:avLst>
          </a:prstGeom>
          <a:solidFill>
            <a:srgbClr val="F3F8F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036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880360" y="2386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и отбор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5192" y="20116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12080" y="1783080"/>
            <a:ext cx="2103120" cy="1051560"/>
          </a:xfrm>
          <a:prstGeom prst="roundRect">
            <a:avLst>
              <a:gd name="adj" fmla="val 6087"/>
            </a:avLst>
          </a:prstGeom>
          <a:solidFill>
            <a:srgbClr val="F3F8F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model.pkl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212080" y="2386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сохранённая модель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96912" y="20116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543800" y="1783080"/>
            <a:ext cx="2103120" cy="1051560"/>
          </a:xfrm>
          <a:prstGeom prst="roundRect">
            <a:avLst>
              <a:gd name="adj" fmla="val 6087"/>
            </a:avLst>
          </a:prstGeom>
          <a:solidFill>
            <a:srgbClr val="F3F8F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4380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543800" y="2386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Gradio-интерфейс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28632" y="20116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875520" y="1783080"/>
            <a:ext cx="2103120" cy="1051560"/>
          </a:xfrm>
          <a:prstGeom prst="roundRect">
            <a:avLst>
              <a:gd name="adj" fmla="val 6087"/>
            </a:avLst>
          </a:prstGeom>
          <a:solidFill>
            <a:srgbClr val="0B6E6E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7552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875520" y="2386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диагноз + 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200400"/>
            <a:ext cx="5486400" cy="2834640"/>
          </a:xfrm>
          <a:prstGeom prst="roundRect">
            <a:avLst>
              <a:gd name="adj" fmla="val 1935"/>
            </a:avLst>
          </a:prstGeom>
          <a:solidFill>
            <a:srgbClr val="F3F8F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3364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 диагностики диабета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" y="374904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 ввода: 8 показателей пациента (глюкоза, ИМТ, давление…) с единицами измерения и диапазонами.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«Провести диагностику» → метка риска (ПОВЫШЕН / НИЗКИЙ) и вероятность в %.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Вкладки: диагностика, вклад признаков (BarPlot), анализ ошибок модели.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320040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16324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3364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Демонстрация: два сценария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92240" y="3767328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DC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Здоровая пациентка: глюкоза 90, ИМТ 22 → риск НИЗКИЙ.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DC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Пограничный случай: глюкоза 180, ИМТ 35 → риск ПОВЫШЕН.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1300" dirty="0">
                <a:solidFill>
                  <a:srgbClr val="DC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Запуск: pip install -r requirements.txt → python train.py → python app.py.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диабета у пациентов · ИТ 15-16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4023360"/>
            <a:ext cx="5486400" cy="5486400"/>
          </a:xfrm>
          <a:prstGeom prst="ellipse">
            <a:avLst/>
          </a:prstGeom>
          <a:solidFill>
            <a:srgbClr val="0B6E6E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И РАЗВИТИЕ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достигнуто и куда двигаться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Достигнуто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DC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ML-пайплайн: очистка данных → сравнение моделей → веб-интерфейс → тесты.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DC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с Recall 0.72 и ROC-AUC 0.82 на отложенной выборке.</a:t>
            </a:r>
            <a:endParaRPr lang="en-US" sz="14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DC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прототип на Gradio и автоматические тесты (pytest) проходят.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0" y="2011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Дальнейшее развитие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2423160"/>
            <a:ext cx="5349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DC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порога классификации под максимум Recall и калибровка вероятностей.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DC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Борьба с дисбалансом: SMOTE / взвешивание классов; больше и разнообразнее данные.</a:t>
            </a:r>
            <a:endParaRPr lang="en-US" sz="14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DC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Объяснимость (SHAP) и валидация на реальной клинической популяции перед применением.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  ·  Торгашинов Андрей, Александров Павел · ИТ 15-16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Диагностика диабета у пациентов</dc:title>
  <dc:subject>PptxGenJS Presentation</dc:subject>
  <dc:creator>Торгашинов А., Александров П.</dc:creator>
  <cp:lastModifiedBy>Торгашинов А., Александров П.</cp:lastModifiedBy>
  <cp:revision>1</cp:revision>
  <dcterms:created xsi:type="dcterms:W3CDTF">2026-06-15T23:42:59Z</dcterms:created>
  <dcterms:modified xsi:type="dcterms:W3CDTF">2026-06-15T23:42:59Z</dcterms:modified>
</cp:coreProperties>
</file>