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969264"/>
            <a:ext cx="109728" cy="1389888"/>
          </a:xfrm>
          <a:prstGeom prst="rect">
            <a:avLst/>
          </a:prstGeom>
          <a:solidFill>
            <a:srgbClr val="2F6F9F"/>
          </a:solidFill>
          <a:ln w="12700">
            <a:solidFill>
              <a:srgbClr val="2F6F9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868680"/>
            <a:ext cx="7680960" cy="1417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Экспертная система выбора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компьютерных комплектующих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77824" y="2514600"/>
            <a:ext cx="76809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Отчётная работа по дисциплине «Интеллектуальные системы»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77824" y="2999232"/>
            <a:ext cx="566928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3273552"/>
            <a:ext cx="8138160" cy="2011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Пермский государственный национальный исследовательский университет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Институт компьютерных наук и технологий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 09.03.01 – Фундаментальная информатика и информационные технологии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Выполнили: Торгашинов Андрей, Александров Павел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Группа: ИТ-15-16-2023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Руководитель: Колодкина Марья Владимировна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Пермь, 2026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9144000" y="1143000"/>
            <a:ext cx="2240280" cy="292608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08592" y="1280160"/>
            <a:ext cx="191109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системы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08592" y="1709928"/>
            <a:ext cx="1911096" cy="2231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требований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компонентов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27080" y="6263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проекта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2331720" cy="68580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65376"/>
            <a:ext cx="224028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1828800"/>
            <a:ext cx="2331720" cy="68580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865376"/>
            <a:ext cx="224028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Экспертная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1828800"/>
            <a:ext cx="2331720" cy="68580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1865376"/>
            <a:ext cx="224028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Корректная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2176272"/>
            <a:ext cx="146304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0" y="2176272"/>
            <a:ext cx="1444752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60120" y="3337560"/>
            <a:ext cx="1028700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Сборка ПК требует проверки нескольких технических параметров.
</a:t>
            </a:r>
            <a:pPr indent="0" marL="0">
              <a:buNone/>
            </a:pPr>
            <a:r>
              <a:rPr lang="en-US" sz="16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Ошибка при выборе CPU, Motherboard или PSU может привести к несовместимости.
</a:t>
            </a:r>
            <a:pPr indent="0" marL="0">
              <a:buNone/>
            </a:pPr>
            <a:r>
              <a:rPr lang="en-US" sz="16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Экспертная система формализует знания специалиста.
</a:t>
            </a:r>
            <a:pPr indent="0" marL="0">
              <a:buNone/>
            </a:pPr>
            <a:r>
              <a:rPr lang="en-US" sz="16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Система объясняет, почему принято то или иное решение.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экспертной системы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207008"/>
            <a:ext cx="10744200" cy="96012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344168"/>
            <a:ext cx="104150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цель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96112" y="1773936"/>
            <a:ext cx="1041501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Автоматизировать выбор совместимых комплектующих для настольного компьютера с учётом бюджета, назначения сборки и предпочтений пользователя.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34056"/>
            <a:ext cx="1600200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процессора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2990088" y="26974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2734056"/>
            <a:ext cx="1600200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видеокарты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202936" y="26974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48656" y="2734056"/>
            <a:ext cx="1600200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сокета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415784" y="26974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61504" y="2734056"/>
            <a:ext cx="1600200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PSU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мощности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9628632" y="26974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74352" y="2734056"/>
            <a:ext cx="1600200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и объяснение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960120" y="4160520"/>
            <a:ext cx="10332720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проверять совместимость CPU и Motherboard по сокету
</a:t>
            </a:r>
            <a:pPr indent="0" marL="0">
              <a:buNone/>
            </a:pPr>
            <a:r>
              <a:rPr lang="en-US" sz="15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оценивать достаточность мощности блока питания
</a:t>
            </a:r>
            <a:pPr indent="0" marL="0">
              <a:buNone/>
            </a:pPr>
            <a:r>
              <a:rPr lang="en-US" sz="15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формировать итоговый вывод о корректности сборки
</a:t>
            </a:r>
            <a:pPr indent="0" marL="0">
              <a:buNone/>
            </a:pPr>
            <a:r>
              <a:rPr lang="en-US" sz="15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показывать список правил, которые сработали при выводе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аудитория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04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5166360" cy="397764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463040"/>
            <a:ext cx="48371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пользователи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41832" y="1892808"/>
            <a:ext cx="4837176" cy="3282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Пользователи, которые самостоятельно собирают ПК.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Школьники и студенты, изучающие аппаратное обеспечение.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Консультанты магазинов компьютерной техники.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166360" cy="397764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463040"/>
            <a:ext cx="48371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пользователи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28232" y="1892808"/>
            <a:ext cx="4837176" cy="3282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Системные администраторы.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Преподаватели дисциплин, связанных с информатикой и hardware.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5696712"/>
            <a:ext cx="10287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презентации: учебная защита проекта для преподавателя и студентов направления 09.03.01.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Предметная область: компьютерное железо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05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1078992"/>
            <a:ext cx="104241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работает с аппаратными компонентами компьютера и их характеристиками.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83480" y="2816352"/>
            <a:ext cx="2212848" cy="676656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852928"/>
            <a:ext cx="212140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ПК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1874520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11096"/>
            <a:ext cx="2240280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процессор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68680" y="3657600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94176"/>
            <a:ext cx="2240280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видеокарта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961120" y="1874520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1911096"/>
            <a:ext cx="2240280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Motherboard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материнская плата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961120" y="3657600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3694176"/>
            <a:ext cx="2240280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PSU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питания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663440" y="1572768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609344"/>
            <a:ext cx="2240280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UserRequirement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3246120" y="2212848"/>
            <a:ext cx="1645920" cy="694944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46120" y="3995928"/>
            <a:ext cx="1645920" cy="-557784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869680" y="2212848"/>
            <a:ext cx="-1572768" cy="694944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69680" y="3995928"/>
            <a:ext cx="-1572768" cy="-557784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60720" y="2249424"/>
            <a:ext cx="228600" cy="521208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68680" y="5504688"/>
            <a:ext cx="21031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5568696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сокет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3611880" y="5504688"/>
            <a:ext cx="21031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48456" y="5568696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TDP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355080" y="5504688"/>
            <a:ext cx="21031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1656" y="5568696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9098280" y="5504688"/>
            <a:ext cx="21031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34856" y="5568696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868680" y="5934456"/>
            <a:ext cx="21031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" y="599846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3611880" y="5934456"/>
            <a:ext cx="21031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48456" y="599846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разрешение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355080" y="5934456"/>
            <a:ext cx="21031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599846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мощность PSU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Функциональность прототипа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06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1417320" cy="59436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29968"/>
            <a:ext cx="132588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2029968" y="2286000"/>
            <a:ext cx="41148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14600" y="1993392"/>
            <a:ext cx="1417320" cy="59436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029968"/>
            <a:ext cx="132588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3950208" y="2286000"/>
            <a:ext cx="41148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34840" y="1993392"/>
            <a:ext cx="1417320" cy="59436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029968"/>
            <a:ext cx="132588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Совместимость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5870448" y="2286000"/>
            <a:ext cx="41148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55080" y="1993392"/>
            <a:ext cx="1417320" cy="59436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029968"/>
            <a:ext cx="132588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PSU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7790688" y="2286000"/>
            <a:ext cx="41148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75320" y="1993392"/>
            <a:ext cx="1417320" cy="59436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029968"/>
            <a:ext cx="132588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9710928" y="2286000"/>
            <a:ext cx="41148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95560" y="1993392"/>
            <a:ext cx="1417320" cy="59436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0" y="2029968"/>
            <a:ext cx="132588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Объяснение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42416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Получение требований пользователя.
</a:t>
            </a:r>
            <a:pPr indent="0" marL="0">
              <a:buNone/>
            </a:pPr>
            <a:r>
              <a:rPr lang="en-US" sz="14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Подбор процессора и видеокарты по назначению и бюджету.
</a:t>
            </a:r>
            <a:pPr indent="0" marL="0">
              <a:buNone/>
            </a:pPr>
            <a:r>
              <a:rPr lang="en-US" sz="14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Проверка совместимости CPU и Motherboard.
</a:t>
            </a:r>
            <a:pPr indent="0" marL="0">
              <a:buNone/>
            </a:pPr>
            <a:r>
              <a:rPr lang="en-US" sz="14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Расчёт суммарного TDP компонентов.
</a:t>
            </a:r>
            <a:pPr indent="0" marL="0">
              <a:buNone/>
            </a:pPr>
            <a:r>
              <a:rPr lang="en-US" sz="14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Проверка достаточности мощности блока питания.
</a:t>
            </a:r>
            <a:pPr indent="0" marL="0">
              <a:buNone/>
            </a:pPr>
            <a:r>
              <a:rPr lang="en-US" sz="14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Формирование заключения и списка сработавших правил.</a:t>
            </a:r>
            <a:endParaRPr lang="en-US" sz="14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решений экспертной системы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07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60520" y="1170432"/>
            <a:ext cx="3840480" cy="512064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207008"/>
            <a:ext cx="374904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Введены требования пользователя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6080760" y="1682496"/>
            <a:ext cx="0" cy="219456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46320" y="1920240"/>
            <a:ext cx="246888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956816"/>
            <a:ext cx="23774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 = игры?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&gt; 60000?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4956048" y="2340864"/>
            <a:ext cx="-1847088" cy="475488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05472" y="2340864"/>
            <a:ext cx="1801368" cy="475488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691640" y="2816352"/>
            <a:ext cx="2514600" cy="475488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2852928"/>
            <a:ext cx="242316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CPU: Ryzen 5 5600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8001000" y="2816352"/>
            <a:ext cx="2697480" cy="566928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852928"/>
            <a:ext cx="260604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GPU: RTX 3060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1080p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2971800" y="3291840"/>
            <a:ext cx="0" cy="393192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45168" y="3401568"/>
            <a:ext cx="0" cy="283464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600200" y="3703320"/>
            <a:ext cx="2697480" cy="6400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3739896"/>
            <a:ext cx="2606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CPU.socket = MB.socket?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7726680" y="3703320"/>
            <a:ext cx="3246120" cy="6400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3739896"/>
            <a:ext cx="31546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(TDP_CPU + TDP_GPU) × 1.2 ≤ PSU.power?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279392" y="4050792"/>
            <a:ext cx="612648" cy="41148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26680" y="4050792"/>
            <a:ext cx="-548640" cy="41148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297680" y="4498848"/>
            <a:ext cx="160020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291072" y="4498848"/>
            <a:ext cx="160020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PowerStatus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5102352" y="4956048"/>
            <a:ext cx="338328" cy="393192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086600" y="4956048"/>
            <a:ext cx="-365760" cy="393192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926080" y="5358384"/>
            <a:ext cx="6355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71800" y="5394960"/>
            <a:ext cx="626364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Совместимы + PSU достаточен → «Сборка корректна»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Иначе → «Требуется замена компонентов»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прототипа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08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5257800" cy="429768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371600"/>
            <a:ext cx="49286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Технические ограничения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41832" y="1801368"/>
            <a:ext cx="4928616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База комплектующих ограничена демонстрационными моделями.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учитываются RAM, накопители, корпус и охлаждение.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Совместимость проверяется только по сокету.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анализируются чипсет, версия BIOS и будущий апгрейд.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172200" y="1234440"/>
            <a:ext cx="5257800" cy="429768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371600"/>
            <a:ext cx="49286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Содержательные ограничения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36792" y="1801368"/>
            <a:ext cx="4928616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Рекомендации основаны на упрощённых бюджетных порогах.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Альтернативные производители рассматриваются не полностью.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Цены компонентов заданы статически и не обновляются автоматически.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оценивается успешность системы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09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62456"/>
            <a:ext cx="292608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44752" y="1344168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Осмысленный результат для игровой и офисной конфигурации.</a:t>
            </a:r>
            <a:endParaRPr lang="en-US" sz="1470" dirty="0"/>
          </a:p>
        </p:txBody>
      </p:sp>
      <p:sp>
        <p:nvSpPr>
          <p:cNvPr id="11" name="Shape 9"/>
          <p:cNvSpPr/>
          <p:nvPr/>
        </p:nvSpPr>
        <p:spPr>
          <a:xfrm>
            <a:off x="1417320" y="1764792"/>
            <a:ext cx="9829800" cy="0"/>
          </a:xfrm>
          <a:prstGeom prst="line">
            <a:avLst/>
          </a:prstGeom>
          <a:noFill/>
          <a:ln w="8890">
            <a:solidFill>
              <a:srgbClr val="E7EB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075688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12264"/>
            <a:ext cx="292608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4752" y="2093976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совместимых компонентах и достаточном PSU выводится «Сборка корректна».</a:t>
            </a:r>
            <a:endParaRPr lang="en-US" sz="1470" dirty="0"/>
          </a:p>
        </p:txBody>
      </p:sp>
      <p:sp>
        <p:nvSpPr>
          <p:cNvPr id="15" name="Shape 13"/>
          <p:cNvSpPr/>
          <p:nvPr/>
        </p:nvSpPr>
        <p:spPr>
          <a:xfrm>
            <a:off x="1417320" y="2514600"/>
            <a:ext cx="9829800" cy="0"/>
          </a:xfrm>
          <a:prstGeom prst="line">
            <a:avLst/>
          </a:prstGeom>
          <a:noFill/>
          <a:ln w="8890">
            <a:solidFill>
              <a:srgbClr val="E7EB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2825496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862072"/>
            <a:ext cx="292608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44752" y="2843784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несовместимости или нехватке мощности выводится рекомендация замены.</a:t>
            </a:r>
            <a:endParaRPr lang="en-US" sz="1470" dirty="0"/>
          </a:p>
        </p:txBody>
      </p:sp>
      <p:sp>
        <p:nvSpPr>
          <p:cNvPr id="19" name="Shape 17"/>
          <p:cNvSpPr/>
          <p:nvPr/>
        </p:nvSpPr>
        <p:spPr>
          <a:xfrm>
            <a:off x="1417320" y="3264408"/>
            <a:ext cx="9829800" cy="0"/>
          </a:xfrm>
          <a:prstGeom prst="line">
            <a:avLst/>
          </a:prstGeom>
          <a:noFill/>
          <a:ln w="8890">
            <a:solidFill>
              <a:srgbClr val="E7EB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575304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611880"/>
            <a:ext cx="292608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44752" y="3593592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видит список применённых правил.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1417320" y="4014216"/>
            <a:ext cx="9829800" cy="0"/>
          </a:xfrm>
          <a:prstGeom prst="line">
            <a:avLst/>
          </a:prstGeom>
          <a:noFill/>
          <a:ln w="8890">
            <a:solidFill>
              <a:srgbClr val="E7EB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325112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61688"/>
            <a:ext cx="292608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44752" y="4343400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уровень положительных отзывов при тестировании — не менее 80%.</a:t>
            </a:r>
            <a:endParaRPr lang="en-US" sz="1470" dirty="0"/>
          </a:p>
        </p:txBody>
      </p:sp>
      <p:sp>
        <p:nvSpPr>
          <p:cNvPr id="27" name="Shape 25"/>
          <p:cNvSpPr/>
          <p:nvPr/>
        </p:nvSpPr>
        <p:spPr>
          <a:xfrm>
            <a:off x="1417320" y="4764024"/>
            <a:ext cx="9829800" cy="0"/>
          </a:xfrm>
          <a:prstGeom prst="line">
            <a:avLst/>
          </a:prstGeom>
          <a:noFill/>
          <a:ln w="8890">
            <a:solidFill>
              <a:srgbClr val="E7EB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 экспертной системы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1060704"/>
            <a:ext cx="10698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 включает онтологию предметной области и набор правил, по которым система делает выводы.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1856232"/>
            <a:ext cx="2194560" cy="50292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92808"/>
            <a:ext cx="210312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UserRequirement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617720" y="1572768"/>
            <a:ext cx="1828800" cy="50292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09344"/>
            <a:ext cx="173736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/ GPU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617720" y="2468880"/>
            <a:ext cx="1828800" cy="50292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05456"/>
            <a:ext cx="173736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Motherboard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4617720" y="3364992"/>
            <a:ext cx="1828800" cy="50292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401568"/>
            <a:ext cx="173736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PSU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595360" y="2240280"/>
            <a:ext cx="1874520" cy="50292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2276856"/>
            <a:ext cx="178308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595360" y="3182112"/>
            <a:ext cx="1874520" cy="50292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3218688"/>
            <a:ext cx="178308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PowerStatus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892040" y="4983480"/>
            <a:ext cx="2331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5020056"/>
            <a:ext cx="22402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BuildResult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3063240" y="2103120"/>
            <a:ext cx="1463040" cy="-292608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063240" y="2103120"/>
            <a:ext cx="1463040" cy="612648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46520" y="1828800"/>
            <a:ext cx="2057400" cy="658368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46520" y="2724912"/>
            <a:ext cx="2057400" cy="-237744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46520" y="1828800"/>
            <a:ext cx="2057400" cy="160020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46520" y="3611880"/>
            <a:ext cx="2057400" cy="-18288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28048" y="2761488"/>
            <a:ext cx="-2395728" cy="2249424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28048" y="3703320"/>
            <a:ext cx="-2395728" cy="1581912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914400" y="5897880"/>
            <a:ext cx="102412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Связи: требования определяют подбор CPU/GPU; CPU и Motherboard связаны через socket; CPU и GPU связаны с PSU через TDP.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правил: IF–THEN логика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11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1539728" cy="676656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252728"/>
            <a:ext cx="67665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243584" y="1252728"/>
            <a:ext cx="213969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 правила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1207008" y="1143000"/>
            <a:ext cx="0" cy="4736592"/>
          </a:xfrm>
          <a:prstGeom prst="line">
            <a:avLst/>
          </a:prstGeom>
          <a:noFill/>
          <a:ln w="8890">
            <a:solidFill>
              <a:srgbClr val="D0D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252728"/>
            <a:ext cx="376732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 IF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419856" y="1143000"/>
            <a:ext cx="0" cy="4736592"/>
          </a:xfrm>
          <a:prstGeom prst="line">
            <a:avLst/>
          </a:prstGeom>
          <a:noFill/>
          <a:ln w="8890">
            <a:solidFill>
              <a:srgbClr val="D0D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6912" y="1252728"/>
            <a:ext cx="466344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 THEN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7260336" y="1143000"/>
            <a:ext cx="0" cy="4736592"/>
          </a:xfrm>
          <a:prstGeom prst="line">
            <a:avLst/>
          </a:prstGeom>
          <a:noFill/>
          <a:ln w="8890">
            <a:solidFill>
              <a:srgbClr val="D0D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819656"/>
            <a:ext cx="11539728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D0D7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892808"/>
            <a:ext cx="6583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52728" y="1892808"/>
            <a:ext cx="21214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CPU для игр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65576" y="1892808"/>
            <a:ext cx="3749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= "игры" AND budget &gt; 60000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06056" y="1892808"/>
            <a:ext cx="46451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CPU Ryzen 5 5600, socket AM4, TDP 65 Вт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496312"/>
            <a:ext cx="11539728" cy="676656"/>
          </a:xfrm>
          <a:prstGeom prst="rect">
            <a:avLst/>
          </a:prstGeom>
          <a:solidFill>
            <a:srgbClr val="F3F5F8"/>
          </a:solidFill>
          <a:ln w="8890">
            <a:solidFill>
              <a:srgbClr val="D0D7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569464"/>
            <a:ext cx="6583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52728" y="2569464"/>
            <a:ext cx="21214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GPU для игр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65576" y="2569464"/>
            <a:ext cx="3749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= "игры" AND resolution = "1080p"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06056" y="2569464"/>
            <a:ext cx="46451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GPU RTX 3060, TDP 170 Вт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172968"/>
            <a:ext cx="11539728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D0D7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246120"/>
            <a:ext cx="6583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52728" y="3246120"/>
            <a:ext cx="21214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Совместимость CPU и MB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65576" y="3246120"/>
            <a:ext cx="3749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CPU.socket = Motherboard.socket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06056" y="3246120"/>
            <a:ext cx="46451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 совместимы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849624"/>
            <a:ext cx="11539728" cy="676656"/>
          </a:xfrm>
          <a:prstGeom prst="rect">
            <a:avLst/>
          </a:prstGeom>
          <a:solidFill>
            <a:srgbClr val="F3F5F8"/>
          </a:solidFill>
          <a:ln w="8890">
            <a:solidFill>
              <a:srgbClr val="D0D7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22776"/>
            <a:ext cx="6583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52728" y="3922776"/>
            <a:ext cx="21214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Несовместимость CPU и MB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65576" y="3922776"/>
            <a:ext cx="3749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CPU.socket ≠ Motherboard.socket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06056" y="3922776"/>
            <a:ext cx="46451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 несовместимы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526280"/>
            <a:ext cx="11539728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D0D7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599432"/>
            <a:ext cx="6583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252728" y="4599432"/>
            <a:ext cx="21214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мощности PSU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65576" y="4599432"/>
            <a:ext cx="3749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int((TDP_CPU + TDP_GPU) × 1.2) ≤ PSU.power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06056" y="4599432"/>
            <a:ext cx="46451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мощность БП достаточна; иначе недостаточна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5202936"/>
            <a:ext cx="11539728" cy="676656"/>
          </a:xfrm>
          <a:prstGeom prst="rect">
            <a:avLst/>
          </a:prstGeom>
          <a:solidFill>
            <a:srgbClr val="F3F5F8"/>
          </a:solidFill>
          <a:ln w="8890">
            <a:solidFill>
              <a:srgbClr val="D0D7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276088"/>
            <a:ext cx="6583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R_Final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252728" y="5276088"/>
            <a:ext cx="21214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Финальное заключение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465576" y="5276088"/>
            <a:ext cx="3749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= "совместимы" AND PowerStatus = "достаточно"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06056" y="5276088"/>
            <a:ext cx="46451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«Сборка корректна»; иначе «Требуется замена компонентов»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" y="1143000"/>
            <a:ext cx="11539728" cy="47365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7E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прототипа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12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14173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48256"/>
            <a:ext cx="13258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2423160" y="2011680"/>
            <a:ext cx="1417320" cy="512064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048256"/>
            <a:ext cx="13258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ввода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4251960" y="2011680"/>
            <a:ext cx="1417320" cy="512064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048256"/>
            <a:ext cx="13258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фактов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080760" y="2011680"/>
            <a:ext cx="1417320" cy="512064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048256"/>
            <a:ext cx="13258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Машина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вывода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080760" y="3154680"/>
            <a:ext cx="1417320" cy="512064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191256"/>
            <a:ext cx="13258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знаний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7909560" y="2011680"/>
            <a:ext cx="1600200" cy="512064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2048256"/>
            <a:ext cx="1508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объяснения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9921240" y="2011680"/>
            <a:ext cx="1508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0" y="2048256"/>
            <a:ext cx="141732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2011680" y="2267712"/>
            <a:ext cx="36576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840480" y="2267712"/>
            <a:ext cx="36576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69280" y="2267712"/>
            <a:ext cx="36576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98080" y="2267712"/>
            <a:ext cx="36576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09760" y="2267712"/>
            <a:ext cx="36576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784848" y="3154680"/>
            <a:ext cx="0" cy="-576072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784848" y="2578608"/>
            <a:ext cx="0" cy="576072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7240" y="4343400"/>
            <a:ext cx="3429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4480560"/>
            <a:ext cx="30998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ввода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941832" y="4910328"/>
            <a:ext cx="3099816" cy="-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получает параметры сборки от пользователя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26280" y="4343400"/>
            <a:ext cx="3429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4480560"/>
            <a:ext cx="30998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фактов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4690872" y="4910328"/>
            <a:ext cx="3099816" cy="-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хранит исходные, промежуточные и итоговые факты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75320" y="4343400"/>
            <a:ext cx="3429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9912" y="4480560"/>
            <a:ext cx="30998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8439912" y="4910328"/>
            <a:ext cx="3099816" cy="-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содержит правила и сущности предметной области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7240" y="5166360"/>
            <a:ext cx="3429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" y="5303520"/>
            <a:ext cx="30998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Машина вывода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941832" y="5733288"/>
            <a:ext cx="3099816" cy="-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применяет правила прямой цепочкой рассуждений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26280" y="5166360"/>
            <a:ext cx="3429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90872" y="5303520"/>
            <a:ext cx="30998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объяснения</a:t>
            </a:r>
            <a:endParaRPr lang="en-US" sz="1030" dirty="0"/>
          </a:p>
        </p:txBody>
      </p:sp>
      <p:sp>
        <p:nvSpPr>
          <p:cNvPr id="43" name="Text 41"/>
          <p:cNvSpPr/>
          <p:nvPr/>
        </p:nvSpPr>
        <p:spPr>
          <a:xfrm>
            <a:off x="4690872" y="5733288"/>
            <a:ext cx="3099816" cy="-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фиксирует сработавшие правила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75320" y="5166360"/>
            <a:ext cx="3429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39912" y="5303520"/>
            <a:ext cx="30998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вывода</a:t>
            </a:r>
            <a:endParaRPr lang="en-US" sz="1030" dirty="0"/>
          </a:p>
        </p:txBody>
      </p:sp>
      <p:sp>
        <p:nvSpPr>
          <p:cNvPr id="46" name="Text 44"/>
          <p:cNvSpPr/>
          <p:nvPr/>
        </p:nvSpPr>
        <p:spPr>
          <a:xfrm>
            <a:off x="8439912" y="5733288"/>
            <a:ext cx="3099816" cy="-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отображает факты и финальный результат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классы прототипа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13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078992"/>
            <a:ext cx="2194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1. Факты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2514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554480"/>
            <a:ext cx="21854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UserRequirement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667512" y="1984248"/>
            <a:ext cx="21854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2514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554480"/>
            <a:ext cx="21854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3547872" y="1984248"/>
            <a:ext cx="21854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tdp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2514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554480"/>
            <a:ext cx="21854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6428232" y="1984248"/>
            <a:ext cx="21854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tdp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9144000" y="1417320"/>
            <a:ext cx="2514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1554480"/>
            <a:ext cx="21854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Motherboard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9308592" y="1984248"/>
            <a:ext cx="21854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ram_type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02920" y="2532888"/>
            <a:ext cx="2514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2670048"/>
            <a:ext cx="21854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PSU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667512" y="3099816"/>
            <a:ext cx="21854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383280" y="2532888"/>
            <a:ext cx="2514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2670048"/>
            <a:ext cx="21854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3547872" y="3099816"/>
            <a:ext cx="21854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263640" y="2532888"/>
            <a:ext cx="2514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2670048"/>
            <a:ext cx="21854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PowerStatus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6428232" y="3099816"/>
            <a:ext cx="21854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9144000" y="2532888"/>
            <a:ext cx="2514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08592" y="2670048"/>
            <a:ext cx="21854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BuildResult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9308592" y="3099816"/>
            <a:ext cx="21854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685800" y="3767328"/>
            <a:ext cx="3840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2. Движок и экспертная система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14400" y="4160520"/>
            <a:ext cx="4800600" cy="137160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8992" y="4297680"/>
            <a:ext cx="44714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78992" y="4727448"/>
            <a:ext cx="447141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facts, rules, fired_rules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assert_fact(), get_facts(), run()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446520" y="4160520"/>
            <a:ext cx="4800600" cy="137160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11112" y="4297680"/>
            <a:ext cx="44714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PCExpertSystem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611112" y="4727448"/>
            <a:ext cx="447141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select_cpu(), select_gpu(), check_socket()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check_socket_fail(), check_power(), final_build()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5715000" y="4846320"/>
            <a:ext cx="68580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1: корректная сборка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14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3337560" cy="411480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371600"/>
            <a:ext cx="30083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Входные данные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96112" y="1801368"/>
            <a:ext cx="3008376" cy="3419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Назначение: игры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Бюджет: 80000 руб.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Разрешение: 1080p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Сокет Motherboard: AM4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Мощность PSU: 600 Вт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4206240" y="3182112"/>
            <a:ext cx="68580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1234440"/>
            <a:ext cx="3108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1371600"/>
            <a:ext cx="27797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Промежуточные факты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239512" y="1801368"/>
            <a:ext cx="2779776" cy="3419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CPU: Ryzen 5 5600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GPU: RTX 3060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CPU и MB совместимы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Мощность PSU достаточна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Правила: R1, R5, R3, R6, R_Final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321040" y="3182112"/>
            <a:ext cx="68580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89720" y="2057400"/>
            <a:ext cx="2240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54312" y="2194560"/>
            <a:ext cx="191109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54312" y="2624328"/>
            <a:ext cx="1911096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«Сборка корректна»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2: несовместимая материнская плата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15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3337560" cy="411480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371600"/>
            <a:ext cx="30083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Входные данные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96112" y="1801368"/>
            <a:ext cx="3008376" cy="3419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Назначение: игры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Бюджет: 80000 руб.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Разрешение: 1080p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Сокет Motherboard: LGA1200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Мощность PSU: 600 Вт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4206240" y="3182112"/>
            <a:ext cx="68580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1234440"/>
            <a:ext cx="3108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1371600"/>
            <a:ext cx="27797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Промежуточные факты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239512" y="1801368"/>
            <a:ext cx="2779776" cy="3419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CPU: Ryzen 5 5600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GPU: RTX 3060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CPU и MB несовместимы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Мощность PSU достаточна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Правила: R1, R5, R4, R6, R_Final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321040" y="3182112"/>
            <a:ext cx="68580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89720" y="2057400"/>
            <a:ext cx="2240280" cy="2331720"/>
          </a:xfrm>
          <a:prstGeom prst="rect">
            <a:avLst/>
          </a:prstGeom>
          <a:solidFill>
            <a:srgbClr val="FFF4D6"/>
          </a:solidFill>
          <a:ln w="12700">
            <a:solidFill>
              <a:srgbClr val="A6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54312" y="2194560"/>
            <a:ext cx="191109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6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54312" y="2624328"/>
            <a:ext cx="1911096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A6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«Требуется замена компонентов»</a:t>
            </a:r>
            <a:endParaRPr lang="en-US" sz="15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0561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393192"/>
            <a:ext cx="5669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16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</a:rPr>
              <a:t>Экспертная система выбора компьютерных комплектующих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10561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Разработана концепция экспертной системы для подбора компьютерных комплектующих.
</a:t>
            </a:r>
            <a:pPr indent="0" marL="0">
              <a:buNone/>
            </a:pPr>
            <a:r>
              <a:rPr lang="en-US" sz="14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Описана предметная область, классы и связи между сущностями.
</a:t>
            </a:r>
            <a:pPr indent="0" marL="0">
              <a:buNone/>
            </a:pPr>
            <a:r>
              <a:rPr lang="en-US" sz="14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Сформирована база правил для подбора и проверки компонентов.
</a:t>
            </a:r>
            <a:pPr indent="0" marL="0">
              <a:buNone/>
            </a:pPr>
            <a:r>
              <a:rPr lang="en-US" sz="14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Реализована логика объяснимого вывода.
</a:t>
            </a:r>
            <a:pPr indent="0" marL="0">
              <a:buNone/>
            </a:pPr>
            <a:r>
              <a:rPr lang="en-US" sz="14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Система определяет корректность сборки по совместимости и мощности PSU.
</a:t>
            </a:r>
            <a:pPr indent="0" marL="0">
              <a:buNone/>
            </a:pPr>
            <a:r>
              <a:rPr lang="en-US" sz="14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Прототип можно расширять новыми комплектующими, правилами и источниками данных.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1051560" y="4800600"/>
            <a:ext cx="2423160" cy="53035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837176"/>
            <a:ext cx="23317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 пользователя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794760" y="4800600"/>
            <a:ext cx="1508760" cy="53035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4837176"/>
            <a:ext cx="14173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623560" y="4800600"/>
            <a:ext cx="1600200" cy="53035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4837176"/>
            <a:ext cx="15087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543800" y="4800600"/>
            <a:ext cx="1874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4837176"/>
            <a:ext cx="178308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493008" y="5065776"/>
            <a:ext cx="27432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21808" y="5065776"/>
            <a:ext cx="27432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42048" y="5065776"/>
            <a:ext cx="274320" cy="0"/>
          </a:xfrm>
          <a:prstGeom prst="line">
            <a:avLst/>
          </a:prstGeom>
          <a:noFill/>
          <a:ln w="15875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14400" y="5806440"/>
            <a:ext cx="1028700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Экспертная система позволяет формализовать знания о подборе ПК и применять их для автоматизированной проверки конфигураций.</a:t>
            </a:r>
            <a:endParaRPr lang="en-US" sz="1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ПГНИУ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Экспертная система выбора компьютерных комплектующих</dc:title>
  <dc:subject>Экспертная система выбора компьютерных комплектующих</dc:subject>
  <dc:creator>OpenAI</dc:creator>
  <cp:lastModifiedBy>OpenAI</cp:lastModifiedBy>
  <cp:revision>1</cp:revision>
  <dcterms:created xsi:type="dcterms:W3CDTF">2026-05-17T21:37:20Z</dcterms:created>
  <dcterms:modified xsi:type="dcterms:W3CDTF">2026-05-17T21:37:20Z</dcterms:modified>
</cp:coreProperties>
</file>